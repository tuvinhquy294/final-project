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Urbanist Medium"/>
      <p:regular r:id="rId14"/>
      <p:bold r:id="rId15"/>
      <p:italic r:id="rId16"/>
      <p:boldItalic r:id="rId17"/>
    </p:embeddedFont>
    <p:embeddedFont>
      <p:font typeface="Urbanist SemiBold"/>
      <p:regular r:id="rId18"/>
      <p:bold r:id="rId19"/>
      <p:italic r:id="rId20"/>
      <p:boldItalic r:id="rId21"/>
    </p:embeddedFont>
    <p:embeddedFont>
      <p:font typeface="Urbanis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SemiBold-italic.fntdata"/><Relationship Id="rId22" Type="http://schemas.openxmlformats.org/officeDocument/2006/relationships/font" Target="fonts/Urbanist-regular.fntdata"/><Relationship Id="rId21" Type="http://schemas.openxmlformats.org/officeDocument/2006/relationships/font" Target="fonts/UrbanistSemiBold-boldItalic.fntdata"/><Relationship Id="rId24" Type="http://schemas.openxmlformats.org/officeDocument/2006/relationships/font" Target="fonts/Urbanist-italic.fntdata"/><Relationship Id="rId23" Type="http://schemas.openxmlformats.org/officeDocument/2006/relationships/font" Target="fonts/Urbanis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Urbanis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UrbanistMedium-bold.fntdata"/><Relationship Id="rId14" Type="http://schemas.openxmlformats.org/officeDocument/2006/relationships/font" Target="fonts/UrbanistMedium-regular.fntdata"/><Relationship Id="rId17" Type="http://schemas.openxmlformats.org/officeDocument/2006/relationships/font" Target="fonts/UrbanistMedium-boldItalic.fntdata"/><Relationship Id="rId16" Type="http://schemas.openxmlformats.org/officeDocument/2006/relationships/font" Target="fonts/UrbanistMedium-italic.fntdata"/><Relationship Id="rId19" Type="http://schemas.openxmlformats.org/officeDocument/2006/relationships/font" Target="fonts/UrbanistSemiBold-bold.fntdata"/><Relationship Id="rId18" Type="http://schemas.openxmlformats.org/officeDocument/2006/relationships/font" Target="fonts/Urbanist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da12019a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da12019a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da12019a50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da12019a50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da12019a50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da12019a50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da12019a50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da12019a50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1b02600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1b02600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d1b02600d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d1b02600d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1b02600d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1b02600d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d1b02600d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d1b02600d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p:nvPr/>
        </p:nvSpPr>
        <p:spPr>
          <a:xfrm>
            <a:off x="3202750" y="1725750"/>
            <a:ext cx="2380200" cy="339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grpSp>
        <p:nvGrpSpPr>
          <p:cNvPr id="438" name="Google Shape;438;p41"/>
          <p:cNvGrpSpPr/>
          <p:nvPr/>
        </p:nvGrpSpPr>
        <p:grpSpPr>
          <a:xfrm>
            <a:off x="228591" y="3127350"/>
            <a:ext cx="233094" cy="233094"/>
            <a:chOff x="259788" y="1923155"/>
            <a:chExt cx="409800" cy="409800"/>
          </a:xfrm>
        </p:grpSpPr>
        <p:sp>
          <p:nvSpPr>
            <p:cNvPr id="439" name="Google Shape;439;p41"/>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nvGrpSpPr>
            <p:cNvPr id="440" name="Google Shape;440;p41"/>
            <p:cNvGrpSpPr/>
            <p:nvPr/>
          </p:nvGrpSpPr>
          <p:grpSpPr>
            <a:xfrm>
              <a:off x="362088" y="2093825"/>
              <a:ext cx="205200" cy="102600"/>
              <a:chOff x="498725" y="2069800"/>
              <a:chExt cx="205200" cy="102600"/>
            </a:xfrm>
          </p:grpSpPr>
          <p:cxnSp>
            <p:nvCxnSpPr>
              <p:cNvPr id="441" name="Google Shape;441;p41"/>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41"/>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43" name="Google Shape;443;p41"/>
          <p:cNvSpPr txBox="1"/>
          <p:nvPr>
            <p:ph type="title"/>
          </p:nvPr>
        </p:nvSpPr>
        <p:spPr>
          <a:xfrm>
            <a:off x="228600" y="228600"/>
            <a:ext cx="8686800" cy="638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solidFill>
                  <a:schemeClr val="lt1"/>
                </a:solidFill>
              </a:rPr>
              <a:t>Final Project </a:t>
            </a:r>
            <a:r>
              <a:rPr lang="en">
                <a:solidFill>
                  <a:schemeClr val="lt1"/>
                </a:solidFill>
              </a:rPr>
              <a:t>Presentation</a:t>
            </a:r>
            <a:endParaRPr>
              <a:solidFill>
                <a:schemeClr val="lt1"/>
              </a:solidFill>
            </a:endParaRPr>
          </a:p>
        </p:txBody>
      </p:sp>
      <p:sp>
        <p:nvSpPr>
          <p:cNvPr id="444" name="Google Shape;444;p4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445" name="Google Shape;445;p4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46" name="Google Shape;446;p41"/>
          <p:cNvSpPr txBox="1"/>
          <p:nvPr>
            <p:ph idx="5" type="subTitle"/>
          </p:nvPr>
        </p:nvSpPr>
        <p:spPr>
          <a:xfrm>
            <a:off x="3245500" y="1780750"/>
            <a:ext cx="2294700" cy="85200"/>
          </a:xfrm>
          <a:prstGeom prst="rect">
            <a:avLst/>
          </a:prstGeom>
        </p:spPr>
        <p:txBody>
          <a:bodyPr anchorCtr="0" anchor="t" bIns="0" lIns="0" spcFirstLastPara="1" rIns="0" wrap="square" tIns="0">
            <a:noAutofit/>
          </a:bodyPr>
          <a:lstStyle/>
          <a:p>
            <a:pPr indent="0" lvl="0" marL="0" rtl="0" algn="ctr">
              <a:lnSpc>
                <a:spcPct val="85000"/>
              </a:lnSpc>
              <a:spcBef>
                <a:spcPts val="0"/>
              </a:spcBef>
              <a:spcAft>
                <a:spcPts val="0"/>
              </a:spcAft>
              <a:buClr>
                <a:schemeClr val="dk1"/>
              </a:buClr>
              <a:buSzPts val="1100"/>
              <a:buFont typeface="Arial"/>
              <a:buNone/>
            </a:pPr>
            <a:r>
              <a:rPr lang="en" sz="2000">
                <a:latin typeface="Urbanist Medium"/>
                <a:ea typeface="Urbanist Medium"/>
                <a:cs typeface="Urbanist Medium"/>
                <a:sym typeface="Urbanist Medium"/>
              </a:rPr>
              <a:t>TỪ VINH QUÝ</a:t>
            </a:r>
            <a:endParaRPr sz="2000">
              <a:latin typeface="Urbanist Medium"/>
              <a:ea typeface="Urbanist Medium"/>
              <a:cs typeface="Urbanist Medium"/>
              <a:sym typeface="Urbanist Medium"/>
            </a:endParaRPr>
          </a:p>
          <a:p>
            <a:pPr indent="0" lvl="0" marL="0" rtl="0" algn="ctr">
              <a:spcBef>
                <a:spcPts val="0"/>
              </a:spcBef>
              <a:spcAft>
                <a:spcPts val="0"/>
              </a:spcAft>
              <a:buNone/>
            </a:pPr>
            <a:r>
              <a:t/>
            </a:r>
            <a:endParaRPr/>
          </a:p>
        </p:txBody>
      </p:sp>
      <p:sp>
        <p:nvSpPr>
          <p:cNvPr id="447" name="Google Shape;447;p41"/>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From 2018 to 2026</a:t>
            </a:r>
            <a:endParaRPr/>
          </a:p>
        </p:txBody>
      </p:sp>
      <p:sp>
        <p:nvSpPr>
          <p:cNvPr id="448" name="Google Shape;448;p41"/>
          <p:cNvSpPr txBox="1"/>
          <p:nvPr>
            <p:ph idx="8" type="subTitle"/>
          </p:nvPr>
        </p:nvSpPr>
        <p:spPr>
          <a:xfrm>
            <a:off x="2154441" y="117580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454" name="Google Shape;454;p4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55" name="Google Shape;455;p42"/>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Dataset Overview</a:t>
            </a:r>
            <a:endParaRPr/>
          </a:p>
        </p:txBody>
      </p:sp>
      <p:sp>
        <p:nvSpPr>
          <p:cNvPr id="456" name="Google Shape;456;p42"/>
          <p:cNvSpPr txBox="1"/>
          <p:nvPr>
            <p:ph idx="13" type="subTitle"/>
          </p:nvPr>
        </p:nvSpPr>
        <p:spPr>
          <a:xfrm>
            <a:off x="297300" y="765900"/>
            <a:ext cx="8643300" cy="923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b="1" lang="en" sz="1200"/>
              <a:t>Source</a:t>
            </a:r>
            <a:endParaRPr b="1" sz="1200"/>
          </a:p>
          <a:p>
            <a:pPr indent="0" lvl="0" marL="0" rtl="0" algn="l">
              <a:lnSpc>
                <a:spcPct val="100000"/>
              </a:lnSpc>
              <a:spcBef>
                <a:spcPts val="0"/>
              </a:spcBef>
              <a:spcAft>
                <a:spcPts val="0"/>
              </a:spcAft>
              <a:buNone/>
            </a:pPr>
            <a:r>
              <a:rPr lang="en" sz="1200"/>
              <a:t>Sports Footwear Sales &amp; Consumer Behavior - Kaggle</a:t>
            </a:r>
            <a:endParaRPr sz="1200"/>
          </a:p>
          <a:p>
            <a:pPr indent="0" lvl="0" marL="0" rtl="0" algn="l">
              <a:lnSpc>
                <a:spcPct val="100000"/>
              </a:lnSpc>
              <a:spcBef>
                <a:spcPts val="0"/>
              </a:spcBef>
              <a:spcAft>
                <a:spcPts val="0"/>
              </a:spcAft>
              <a:buNone/>
            </a:pPr>
            <a:r>
              <a:rPr lang="en" sz="1200"/>
              <a:t>https://www.kaggle.com/datasets/aliiihussain/sports-footwear-sales-and-consumer-behavior</a:t>
            </a:r>
            <a:endParaRPr sz="1200"/>
          </a:p>
          <a:p>
            <a:pPr indent="0" lvl="0" marL="0" rtl="0" algn="l">
              <a:lnSpc>
                <a:spcPct val="100000"/>
              </a:lnSpc>
              <a:spcBef>
                <a:spcPts val="0"/>
              </a:spcBef>
              <a:spcAft>
                <a:spcPts val="0"/>
              </a:spcAft>
              <a:buNone/>
            </a:pPr>
            <a:r>
              <a:t/>
            </a:r>
            <a:endParaRPr sz="1200"/>
          </a:p>
        </p:txBody>
      </p:sp>
      <p:sp>
        <p:nvSpPr>
          <p:cNvPr id="457" name="Google Shape;457;p42"/>
          <p:cNvSpPr txBox="1"/>
          <p:nvPr>
            <p:ph idx="13" type="subTitle"/>
          </p:nvPr>
        </p:nvSpPr>
        <p:spPr>
          <a:xfrm>
            <a:off x="297300" y="1555025"/>
            <a:ext cx="8643300" cy="923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b="1" lang="en" sz="1200"/>
              <a:t>Description</a:t>
            </a:r>
            <a:endParaRPr b="1" sz="1200"/>
          </a:p>
          <a:p>
            <a:pPr indent="0" lvl="0" marL="0" rtl="0" algn="l">
              <a:lnSpc>
                <a:spcPct val="100000"/>
              </a:lnSpc>
              <a:spcBef>
                <a:spcPts val="0"/>
              </a:spcBef>
              <a:spcAft>
                <a:spcPts val="0"/>
              </a:spcAft>
              <a:buNone/>
            </a:pPr>
            <a:r>
              <a:rPr lang="en" sz="1200"/>
              <a:t>This dataset contains realistic sales, pricing, and consumer data for sports footwear from 2018 to 2026. It covers multiple global brands (Nike, Adidas, Puma, Reebok, ASICS, New Balance) and consists of 30000 rows.</a:t>
            </a:r>
            <a:endParaRPr sz="1200"/>
          </a:p>
          <a:p>
            <a:pPr indent="0" lvl="0" marL="0" rtl="0" algn="l">
              <a:lnSpc>
                <a:spcPct val="100000"/>
              </a:lnSpc>
              <a:spcBef>
                <a:spcPts val="0"/>
              </a:spcBef>
              <a:spcAft>
                <a:spcPts val="0"/>
              </a:spcAft>
              <a:buNone/>
            </a:pPr>
            <a:r>
              <a:t/>
            </a:r>
            <a:endParaRPr sz="1200"/>
          </a:p>
        </p:txBody>
      </p:sp>
      <p:sp>
        <p:nvSpPr>
          <p:cNvPr id="458" name="Google Shape;458;p42"/>
          <p:cNvSpPr txBox="1"/>
          <p:nvPr>
            <p:ph idx="13" type="subTitle"/>
          </p:nvPr>
        </p:nvSpPr>
        <p:spPr>
          <a:xfrm>
            <a:off x="203400" y="2320500"/>
            <a:ext cx="8643300" cy="14778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b="1" lang="en" sz="1200"/>
              <a:t>Purpose and Outcome</a:t>
            </a:r>
            <a:endParaRPr b="1" sz="1200"/>
          </a:p>
          <a:p>
            <a:pPr indent="0" lvl="0" marL="0" rtl="0" algn="l">
              <a:lnSpc>
                <a:spcPct val="100000"/>
              </a:lnSpc>
              <a:spcBef>
                <a:spcPts val="0"/>
              </a:spcBef>
              <a:spcAft>
                <a:spcPts val="0"/>
              </a:spcAft>
              <a:buNone/>
            </a:pPr>
            <a:r>
              <a:rPr b="1" i="1" lang="en" sz="1200"/>
              <a:t>Purpose:</a:t>
            </a:r>
            <a:br>
              <a:rPr i="1" lang="en" sz="1200"/>
            </a:br>
            <a:r>
              <a:rPr lang="en" sz="1200"/>
              <a:t>Analyze customer ‘s favourite brands, </a:t>
            </a:r>
            <a:r>
              <a:rPr lang="en" sz="1200"/>
              <a:t>customers</a:t>
            </a:r>
            <a:r>
              <a:rPr lang="en" sz="1200"/>
              <a:t>  behaviors and optimal discount range to maximize revenue.</a:t>
            </a:r>
            <a:endParaRPr sz="1200"/>
          </a:p>
          <a:p>
            <a:pPr indent="0" lvl="0" marL="0" rtl="0" algn="l">
              <a:lnSpc>
                <a:spcPct val="100000"/>
              </a:lnSpc>
              <a:spcBef>
                <a:spcPts val="0"/>
              </a:spcBef>
              <a:spcAft>
                <a:spcPts val="0"/>
              </a:spcAft>
              <a:buNone/>
            </a:pPr>
            <a:r>
              <a:rPr b="1" i="1" lang="en" sz="1200"/>
              <a:t>Outcome:</a:t>
            </a:r>
            <a:endParaRPr b="1" i="1" sz="1200"/>
          </a:p>
          <a:p>
            <a:pPr indent="0" lvl="0" marL="0" rtl="0" algn="l">
              <a:spcBef>
                <a:spcPts val="0"/>
              </a:spcBef>
              <a:spcAft>
                <a:spcPts val="0"/>
              </a:spcAft>
              <a:buClr>
                <a:schemeClr val="dk1"/>
              </a:buClr>
              <a:buSzPts val="1100"/>
              <a:buFont typeface="Arial"/>
              <a:buNone/>
            </a:pPr>
            <a:r>
              <a:rPr lang="en" sz="1200"/>
              <a:t>Provide insights to have company increase revenue through better pricing strategies and enhance customer satisfaction.</a:t>
            </a:r>
            <a:endParaRPr sz="1200"/>
          </a:p>
          <a:p>
            <a:pPr indent="0" lvl="0" marL="0" rtl="0" algn="l">
              <a:lnSpc>
                <a:spcPct val="100000"/>
              </a:lnSpc>
              <a:spcBef>
                <a:spcPts val="0"/>
              </a:spcBef>
              <a:spcAft>
                <a:spcPts val="0"/>
              </a:spcAft>
              <a:buNone/>
            </a:pPr>
            <a:r>
              <a:t/>
            </a:r>
            <a:endParaRPr sz="1200"/>
          </a:p>
          <a:p>
            <a:pPr indent="0" lvl="0" marL="0" rtl="0" algn="l">
              <a:lnSpc>
                <a:spcPct val="100000"/>
              </a:lnSpc>
              <a:spcBef>
                <a:spcPts val="0"/>
              </a:spcBef>
              <a:spcAft>
                <a:spcPts val="0"/>
              </a:spcAft>
              <a:buNone/>
            </a:pPr>
            <a:r>
              <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3"/>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464" name="Google Shape;464;p43"/>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65" name="Google Shape;465;p43"/>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Dataset Structure</a:t>
            </a:r>
            <a:endParaRPr/>
          </a:p>
        </p:txBody>
      </p:sp>
      <p:sp>
        <p:nvSpPr>
          <p:cNvPr id="466" name="Google Shape;466;p43"/>
          <p:cNvSpPr txBox="1"/>
          <p:nvPr>
            <p:ph idx="13" type="subTitle"/>
          </p:nvPr>
        </p:nvSpPr>
        <p:spPr>
          <a:xfrm>
            <a:off x="297300" y="765900"/>
            <a:ext cx="4321800" cy="7359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 sz="1200"/>
              <a:t>Order details:</a:t>
            </a:r>
            <a:endParaRPr b="1" sz="1200"/>
          </a:p>
          <a:p>
            <a:pPr indent="-304800" lvl="0" marL="457200" rtl="0" algn="l">
              <a:lnSpc>
                <a:spcPct val="115000"/>
              </a:lnSpc>
              <a:spcBef>
                <a:spcPts val="1200"/>
              </a:spcBef>
              <a:spcAft>
                <a:spcPts val="0"/>
              </a:spcAft>
              <a:buSzPts val="1200"/>
              <a:buChar char="●"/>
            </a:pPr>
            <a:r>
              <a:rPr lang="en" sz="1200"/>
              <a:t>order_id</a:t>
            </a:r>
            <a:endParaRPr sz="1200"/>
          </a:p>
          <a:p>
            <a:pPr indent="-304800" lvl="0" marL="457200" rtl="0" algn="l">
              <a:lnSpc>
                <a:spcPct val="115000"/>
              </a:lnSpc>
              <a:spcBef>
                <a:spcPts val="0"/>
              </a:spcBef>
              <a:spcAft>
                <a:spcPts val="0"/>
              </a:spcAft>
              <a:buSzPts val="1200"/>
              <a:buChar char="●"/>
            </a:pPr>
            <a:r>
              <a:rPr lang="en" sz="1200"/>
              <a:t>order_date</a:t>
            </a:r>
            <a:endParaRPr sz="1200"/>
          </a:p>
        </p:txBody>
      </p:sp>
      <p:sp>
        <p:nvSpPr>
          <p:cNvPr id="467" name="Google Shape;467;p43"/>
          <p:cNvSpPr txBox="1"/>
          <p:nvPr>
            <p:ph idx="13" type="subTitle"/>
          </p:nvPr>
        </p:nvSpPr>
        <p:spPr>
          <a:xfrm>
            <a:off x="297300" y="1600075"/>
            <a:ext cx="4321800" cy="1613100"/>
          </a:xfrm>
          <a:prstGeom prst="rect">
            <a:avLst/>
          </a:prstGeom>
        </p:spPr>
        <p:txBody>
          <a:bodyPr anchorCtr="0" anchor="t" bIns="0" lIns="0" spcFirstLastPara="1" rIns="0" wrap="square" tIns="0">
            <a:spAutoFit/>
          </a:bodyPr>
          <a:lstStyle/>
          <a:p>
            <a:pPr indent="0" lvl="0" marL="0" marR="0" rtl="0" algn="l">
              <a:lnSpc>
                <a:spcPct val="115000"/>
              </a:lnSpc>
              <a:spcBef>
                <a:spcPts val="1200"/>
              </a:spcBef>
              <a:spcAft>
                <a:spcPts val="0"/>
              </a:spcAft>
              <a:buNone/>
            </a:pPr>
            <a:r>
              <a:rPr b="1" lang="en" sz="1200"/>
              <a:t>Product info</a:t>
            </a:r>
            <a:r>
              <a:rPr b="1" lang="en" sz="1200"/>
              <a:t>:</a:t>
            </a:r>
            <a:endParaRPr b="1" sz="1200"/>
          </a:p>
          <a:p>
            <a:pPr indent="-304800" lvl="0" marL="457200" marR="0" rtl="0" algn="l">
              <a:lnSpc>
                <a:spcPct val="115000"/>
              </a:lnSpc>
              <a:spcBef>
                <a:spcPts val="1200"/>
              </a:spcBef>
              <a:spcAft>
                <a:spcPts val="0"/>
              </a:spcAft>
              <a:buSzPts val="1200"/>
              <a:buChar char="●"/>
            </a:pPr>
            <a:r>
              <a:rPr lang="en" sz="1200"/>
              <a:t>brand</a:t>
            </a:r>
            <a:endParaRPr sz="1200"/>
          </a:p>
          <a:p>
            <a:pPr indent="-304800" lvl="0" marL="457200" rtl="0" algn="l">
              <a:lnSpc>
                <a:spcPct val="115000"/>
              </a:lnSpc>
              <a:spcBef>
                <a:spcPts val="0"/>
              </a:spcBef>
              <a:spcAft>
                <a:spcPts val="0"/>
              </a:spcAft>
              <a:buSzPts val="1200"/>
              <a:buChar char="●"/>
            </a:pPr>
            <a:r>
              <a:rPr lang="en" sz="1200"/>
              <a:t>Model_name</a:t>
            </a:r>
            <a:endParaRPr sz="1200"/>
          </a:p>
          <a:p>
            <a:pPr indent="-304800" lvl="0" marL="457200" rtl="0" algn="l">
              <a:lnSpc>
                <a:spcPct val="115000"/>
              </a:lnSpc>
              <a:spcBef>
                <a:spcPts val="0"/>
              </a:spcBef>
              <a:spcAft>
                <a:spcPts val="0"/>
              </a:spcAft>
              <a:buSzPts val="1200"/>
              <a:buChar char="●"/>
            </a:pPr>
            <a:r>
              <a:rPr lang="en" sz="1200"/>
              <a:t>Category </a:t>
            </a:r>
            <a:endParaRPr sz="1200"/>
          </a:p>
          <a:p>
            <a:pPr indent="-304800" lvl="0" marL="457200" rtl="0" algn="l">
              <a:lnSpc>
                <a:spcPct val="115000"/>
              </a:lnSpc>
              <a:spcBef>
                <a:spcPts val="0"/>
              </a:spcBef>
              <a:spcAft>
                <a:spcPts val="0"/>
              </a:spcAft>
              <a:buSzPts val="1200"/>
              <a:buChar char="●"/>
            </a:pPr>
            <a:r>
              <a:rPr lang="en" sz="1200"/>
              <a:t>Size</a:t>
            </a:r>
            <a:endParaRPr sz="1200"/>
          </a:p>
          <a:p>
            <a:pPr indent="-304800" lvl="0" marL="457200" rtl="0" algn="l">
              <a:lnSpc>
                <a:spcPct val="115000"/>
              </a:lnSpc>
              <a:spcBef>
                <a:spcPts val="0"/>
              </a:spcBef>
              <a:spcAft>
                <a:spcPts val="0"/>
              </a:spcAft>
              <a:buSzPts val="1200"/>
              <a:buChar char="●"/>
            </a:pPr>
            <a:r>
              <a:rPr lang="en" sz="1200"/>
              <a:t>Color </a:t>
            </a:r>
            <a:endParaRPr sz="1200"/>
          </a:p>
          <a:p>
            <a:pPr indent="-304800" lvl="0" marL="457200" rtl="0" algn="l">
              <a:lnSpc>
                <a:spcPct val="115000"/>
              </a:lnSpc>
              <a:spcBef>
                <a:spcPts val="0"/>
              </a:spcBef>
              <a:spcAft>
                <a:spcPts val="0"/>
              </a:spcAft>
              <a:buSzPts val="1200"/>
              <a:buChar char="●"/>
            </a:pPr>
            <a:r>
              <a:rPr lang="en" sz="1200"/>
              <a:t>Gender</a:t>
            </a:r>
            <a:endParaRPr sz="1200"/>
          </a:p>
        </p:txBody>
      </p:sp>
      <p:sp>
        <p:nvSpPr>
          <p:cNvPr id="468" name="Google Shape;468;p43"/>
          <p:cNvSpPr txBox="1"/>
          <p:nvPr>
            <p:ph idx="13" type="subTitle"/>
          </p:nvPr>
        </p:nvSpPr>
        <p:spPr>
          <a:xfrm>
            <a:off x="250350" y="3311450"/>
            <a:ext cx="4368900" cy="975900"/>
          </a:xfrm>
          <a:prstGeom prst="rect">
            <a:avLst/>
          </a:prstGeom>
        </p:spPr>
        <p:txBody>
          <a:bodyPr anchorCtr="0" anchor="t" bIns="0" lIns="0" spcFirstLastPara="1" rIns="0" wrap="square" tIns="0">
            <a:spAutoFit/>
          </a:bodyPr>
          <a:lstStyle/>
          <a:p>
            <a:pPr indent="0" lvl="0" marL="0" marR="0" rtl="0" algn="l">
              <a:lnSpc>
                <a:spcPct val="115000"/>
              </a:lnSpc>
              <a:spcBef>
                <a:spcPts val="1200"/>
              </a:spcBef>
              <a:spcAft>
                <a:spcPts val="0"/>
              </a:spcAft>
              <a:buNone/>
            </a:pPr>
            <a:r>
              <a:rPr lang="en" sz="1200"/>
              <a:t>Pricing:</a:t>
            </a:r>
            <a:endParaRPr sz="1200"/>
          </a:p>
          <a:p>
            <a:pPr indent="-304800" lvl="0" marL="457200" marR="0" rtl="0" algn="l">
              <a:lnSpc>
                <a:spcPct val="115000"/>
              </a:lnSpc>
              <a:spcBef>
                <a:spcPts val="1200"/>
              </a:spcBef>
              <a:spcAft>
                <a:spcPts val="0"/>
              </a:spcAft>
              <a:buSzPts val="1200"/>
              <a:buChar char="●"/>
            </a:pPr>
            <a:r>
              <a:rPr lang="en" sz="1200"/>
              <a:t>Base_price_usd, </a:t>
            </a:r>
            <a:endParaRPr sz="1200"/>
          </a:p>
          <a:p>
            <a:pPr indent="-304800" lvl="0" marL="457200" marR="0" rtl="0" algn="l">
              <a:lnSpc>
                <a:spcPct val="115000"/>
              </a:lnSpc>
              <a:spcBef>
                <a:spcPts val="0"/>
              </a:spcBef>
              <a:spcAft>
                <a:spcPts val="0"/>
              </a:spcAft>
              <a:buSzPts val="1200"/>
              <a:buChar char="●"/>
            </a:pPr>
            <a:r>
              <a:rPr lang="en" sz="1200"/>
              <a:t>Discount_percent, </a:t>
            </a:r>
            <a:endParaRPr sz="1200"/>
          </a:p>
          <a:p>
            <a:pPr indent="-304800" lvl="0" marL="457200" marR="0" rtl="0" algn="l">
              <a:lnSpc>
                <a:spcPct val="115000"/>
              </a:lnSpc>
              <a:spcBef>
                <a:spcPts val="0"/>
              </a:spcBef>
              <a:spcAft>
                <a:spcPts val="0"/>
              </a:spcAft>
              <a:buSzPts val="1200"/>
              <a:buChar char="●"/>
            </a:pPr>
            <a:r>
              <a:rPr lang="en" sz="1200"/>
              <a:t>Final_price_usd</a:t>
            </a:r>
            <a:endParaRPr sz="1200"/>
          </a:p>
        </p:txBody>
      </p:sp>
      <p:sp>
        <p:nvSpPr>
          <p:cNvPr id="469" name="Google Shape;469;p43"/>
          <p:cNvSpPr txBox="1"/>
          <p:nvPr>
            <p:ph idx="13" type="subTitle"/>
          </p:nvPr>
        </p:nvSpPr>
        <p:spPr>
          <a:xfrm>
            <a:off x="4822200" y="909300"/>
            <a:ext cx="4321800" cy="7359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 sz="1200"/>
              <a:t>Sales metrics</a:t>
            </a:r>
            <a:r>
              <a:rPr b="1" lang="en" sz="1200"/>
              <a:t>:</a:t>
            </a:r>
            <a:endParaRPr b="1" sz="1200"/>
          </a:p>
          <a:p>
            <a:pPr indent="-304800" lvl="0" marL="457200" rtl="0" algn="l">
              <a:lnSpc>
                <a:spcPct val="115000"/>
              </a:lnSpc>
              <a:spcBef>
                <a:spcPts val="1200"/>
              </a:spcBef>
              <a:spcAft>
                <a:spcPts val="0"/>
              </a:spcAft>
              <a:buSzPts val="1200"/>
              <a:buChar char="●"/>
            </a:pPr>
            <a:r>
              <a:rPr lang="en" sz="1200"/>
              <a:t>Units_sold</a:t>
            </a:r>
            <a:endParaRPr sz="1200"/>
          </a:p>
          <a:p>
            <a:pPr indent="-304800" lvl="0" marL="457200" rtl="0" algn="l">
              <a:lnSpc>
                <a:spcPct val="115000"/>
              </a:lnSpc>
              <a:spcBef>
                <a:spcPts val="0"/>
              </a:spcBef>
              <a:spcAft>
                <a:spcPts val="0"/>
              </a:spcAft>
              <a:buSzPts val="1200"/>
              <a:buChar char="●"/>
            </a:pPr>
            <a:r>
              <a:rPr lang="en" sz="1200"/>
              <a:t>R</a:t>
            </a:r>
            <a:r>
              <a:rPr lang="en" sz="1200"/>
              <a:t>evenue_usd</a:t>
            </a:r>
            <a:endParaRPr sz="1200"/>
          </a:p>
        </p:txBody>
      </p:sp>
      <p:sp>
        <p:nvSpPr>
          <p:cNvPr id="470" name="Google Shape;470;p43"/>
          <p:cNvSpPr txBox="1"/>
          <p:nvPr>
            <p:ph idx="13" type="subTitle"/>
          </p:nvPr>
        </p:nvSpPr>
        <p:spPr>
          <a:xfrm>
            <a:off x="4902550" y="1801500"/>
            <a:ext cx="4321800" cy="9483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 sz="1200"/>
              <a:t>Customer info</a:t>
            </a:r>
            <a:r>
              <a:rPr b="1" lang="en" sz="1200"/>
              <a:t>:</a:t>
            </a:r>
            <a:endParaRPr b="1" sz="1200"/>
          </a:p>
          <a:p>
            <a:pPr indent="-304800" lvl="0" marL="457200" rtl="0" algn="l">
              <a:lnSpc>
                <a:spcPct val="115000"/>
              </a:lnSpc>
              <a:spcBef>
                <a:spcPts val="1200"/>
              </a:spcBef>
              <a:spcAft>
                <a:spcPts val="0"/>
              </a:spcAft>
              <a:buSzPts val="1200"/>
              <a:buChar char="●"/>
            </a:pPr>
            <a:r>
              <a:rPr lang="en" sz="1200"/>
              <a:t>Country</a:t>
            </a:r>
            <a:endParaRPr sz="1200"/>
          </a:p>
          <a:p>
            <a:pPr indent="-304800" lvl="0" marL="457200" rtl="0" algn="l">
              <a:lnSpc>
                <a:spcPct val="115000"/>
              </a:lnSpc>
              <a:spcBef>
                <a:spcPts val="0"/>
              </a:spcBef>
              <a:spcAft>
                <a:spcPts val="0"/>
              </a:spcAft>
              <a:buSzPts val="1200"/>
              <a:buChar char="●"/>
            </a:pPr>
            <a:r>
              <a:rPr lang="en" sz="1200"/>
              <a:t>C</a:t>
            </a:r>
            <a:r>
              <a:rPr lang="en" sz="1200"/>
              <a:t>ustomer_income_level</a:t>
            </a:r>
            <a:endParaRPr sz="1200"/>
          </a:p>
          <a:p>
            <a:pPr indent="-304800" lvl="0" marL="457200" rtl="0" algn="l">
              <a:lnSpc>
                <a:spcPct val="115000"/>
              </a:lnSpc>
              <a:spcBef>
                <a:spcPts val="0"/>
              </a:spcBef>
              <a:spcAft>
                <a:spcPts val="0"/>
              </a:spcAft>
              <a:buSzPts val="1200"/>
              <a:buChar char="●"/>
            </a:pPr>
            <a:r>
              <a:rPr lang="en" sz="1200"/>
              <a:t>Customer_rating</a:t>
            </a:r>
            <a:endParaRPr sz="1200"/>
          </a:p>
        </p:txBody>
      </p:sp>
      <p:sp>
        <p:nvSpPr>
          <p:cNvPr id="471" name="Google Shape;471;p43"/>
          <p:cNvSpPr txBox="1"/>
          <p:nvPr>
            <p:ph idx="13" type="subTitle"/>
          </p:nvPr>
        </p:nvSpPr>
        <p:spPr>
          <a:xfrm>
            <a:off x="4973875" y="2971775"/>
            <a:ext cx="4321800" cy="7359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 sz="1200"/>
              <a:t>Channel &amp; payment:</a:t>
            </a:r>
            <a:endParaRPr b="1" sz="1200"/>
          </a:p>
          <a:p>
            <a:pPr indent="-304800" lvl="0" marL="457200" rtl="0" algn="l">
              <a:lnSpc>
                <a:spcPct val="115000"/>
              </a:lnSpc>
              <a:spcBef>
                <a:spcPts val="1200"/>
              </a:spcBef>
              <a:spcAft>
                <a:spcPts val="0"/>
              </a:spcAft>
              <a:buSzPts val="1200"/>
              <a:buChar char="●"/>
            </a:pPr>
            <a:r>
              <a:rPr lang="en" sz="1200"/>
              <a:t>Sales_channel</a:t>
            </a:r>
            <a:endParaRPr sz="1200"/>
          </a:p>
          <a:p>
            <a:pPr indent="-304800" lvl="0" marL="457200" rtl="0" algn="l">
              <a:lnSpc>
                <a:spcPct val="115000"/>
              </a:lnSpc>
              <a:spcBef>
                <a:spcPts val="0"/>
              </a:spcBef>
              <a:spcAft>
                <a:spcPts val="0"/>
              </a:spcAft>
              <a:buSzPts val="1200"/>
              <a:buChar char="●"/>
            </a:pPr>
            <a:r>
              <a:rPr lang="en" sz="1200"/>
              <a:t>P</a:t>
            </a:r>
            <a:r>
              <a:rPr lang="en" sz="1200"/>
              <a:t>ayment_method</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descr="A luminous galaxy in space. " id="476" name="Google Shape;476;p44"/>
          <p:cNvPicPr preferRelativeResize="0"/>
          <p:nvPr/>
        </p:nvPicPr>
        <p:blipFill rotWithShape="1">
          <a:blip r:embed="rId3">
            <a:alphaModFix amt="50000"/>
          </a:blip>
          <a:srcRect b="1961" l="0" r="0" t="6840"/>
          <a:stretch/>
        </p:blipFill>
        <p:spPr>
          <a:xfrm>
            <a:off x="0" y="-11000"/>
            <a:ext cx="9144003" cy="4686976"/>
          </a:xfrm>
          <a:prstGeom prst="rect">
            <a:avLst/>
          </a:prstGeom>
          <a:noFill/>
          <a:ln>
            <a:noFill/>
          </a:ln>
        </p:spPr>
      </p:pic>
      <p:sp>
        <p:nvSpPr>
          <p:cNvPr id="477" name="Google Shape;477;p44"/>
          <p:cNvSpPr txBox="1"/>
          <p:nvPr>
            <p:ph type="title"/>
          </p:nvPr>
        </p:nvSpPr>
        <p:spPr>
          <a:xfrm>
            <a:off x="135050" y="686700"/>
            <a:ext cx="8574600" cy="1114800"/>
          </a:xfrm>
          <a:prstGeom prst="rect">
            <a:avLst/>
          </a:prstGeom>
        </p:spPr>
        <p:txBody>
          <a:bodyPr anchorCtr="0" anchor="t" bIns="0" lIns="0" spcFirstLastPara="1" rIns="0" wrap="square" tIns="0">
            <a:noAutofit/>
          </a:bodyPr>
          <a:lstStyle/>
          <a:p>
            <a:pPr indent="-330200" lvl="0" marL="457200" rtl="0" algn="l">
              <a:lnSpc>
                <a:spcPct val="85000"/>
              </a:lnSpc>
              <a:spcBef>
                <a:spcPts val="0"/>
              </a:spcBef>
              <a:spcAft>
                <a:spcPts val="0"/>
              </a:spcAft>
              <a:buClr>
                <a:schemeClr val="dk2"/>
              </a:buClr>
              <a:buSzPts val="1600"/>
              <a:buFont typeface="Urbanist"/>
              <a:buAutoNum type="arabicPeriod"/>
            </a:pPr>
            <a:r>
              <a:rPr b="1" lang="en" sz="1600">
                <a:solidFill>
                  <a:schemeClr val="dk2"/>
                </a:solidFill>
                <a:latin typeface="Urbanist"/>
                <a:ea typeface="Urbanist"/>
                <a:cs typeface="Urbanist"/>
                <a:sym typeface="Urbanist"/>
              </a:rPr>
              <a:t>Data cleaning</a:t>
            </a:r>
            <a:endParaRPr b="1" sz="1600">
              <a:solidFill>
                <a:schemeClr val="dk2"/>
              </a:solidFill>
              <a:latin typeface="Urbanist"/>
              <a:ea typeface="Urbanist"/>
              <a:cs typeface="Urbanist"/>
              <a:sym typeface="Urbanist"/>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317500" lvl="0" marL="457200" rtl="0" algn="l">
              <a:lnSpc>
                <a:spcPct val="85000"/>
              </a:lnSpc>
              <a:spcBef>
                <a:spcPts val="0"/>
              </a:spcBef>
              <a:spcAft>
                <a:spcPts val="0"/>
              </a:spcAft>
              <a:buClr>
                <a:schemeClr val="dk2"/>
              </a:buClr>
              <a:buSzPts val="1400"/>
              <a:buChar char="●"/>
            </a:pPr>
            <a:r>
              <a:rPr lang="en" sz="1400">
                <a:solidFill>
                  <a:schemeClr val="dk2"/>
                </a:solidFill>
              </a:rPr>
              <a:t>Check missing values </a:t>
            </a:r>
            <a:endParaRPr sz="1400">
              <a:solidFill>
                <a:schemeClr val="dk2"/>
              </a:solidFill>
            </a:endParaRPr>
          </a:p>
          <a:p>
            <a:pPr indent="-317500" lvl="0" marL="457200" rtl="0" algn="l">
              <a:lnSpc>
                <a:spcPct val="85000"/>
              </a:lnSpc>
              <a:spcBef>
                <a:spcPts val="0"/>
              </a:spcBef>
              <a:spcAft>
                <a:spcPts val="0"/>
              </a:spcAft>
              <a:buClr>
                <a:schemeClr val="dk2"/>
              </a:buClr>
              <a:buSzPts val="1400"/>
              <a:buChar char="●"/>
            </a:pPr>
            <a:r>
              <a:rPr lang="en" sz="1400">
                <a:solidFill>
                  <a:schemeClr val="dk2"/>
                </a:solidFill>
              </a:rPr>
              <a:t>Convert date to datetime format</a:t>
            </a:r>
            <a:endParaRPr sz="1400">
              <a:solidFill>
                <a:schemeClr val="dk2"/>
              </a:solidFill>
            </a:endParaRPr>
          </a:p>
          <a:p>
            <a:pPr indent="-317500" lvl="0" marL="457200" rtl="0" algn="l">
              <a:lnSpc>
                <a:spcPct val="85000"/>
              </a:lnSpc>
              <a:spcBef>
                <a:spcPts val="0"/>
              </a:spcBef>
              <a:spcAft>
                <a:spcPts val="0"/>
              </a:spcAft>
              <a:buClr>
                <a:schemeClr val="dk2"/>
              </a:buClr>
              <a:buSzPts val="1400"/>
              <a:buChar char="●"/>
            </a:pPr>
            <a:r>
              <a:rPr lang="en" sz="1400">
                <a:solidFill>
                  <a:schemeClr val="dk2"/>
                </a:solidFill>
              </a:rPr>
              <a:t>Create </a:t>
            </a:r>
            <a:r>
              <a:rPr lang="en" sz="1400">
                <a:solidFill>
                  <a:schemeClr val="dk2"/>
                </a:solidFill>
              </a:rPr>
              <a:t>additional columns( month, discount_bucket)</a:t>
            </a:r>
            <a:endParaRPr sz="1400">
              <a:solidFill>
                <a:schemeClr val="dk2"/>
              </a:solidFill>
            </a:endParaRPr>
          </a:p>
        </p:txBody>
      </p:sp>
      <p:sp>
        <p:nvSpPr>
          <p:cNvPr id="478" name="Google Shape;478;p44"/>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479" name="Google Shape;479;p44"/>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80" name="Google Shape;480;p44"/>
          <p:cNvSpPr txBox="1"/>
          <p:nvPr>
            <p:ph idx="1" type="subTitle"/>
          </p:nvPr>
        </p:nvSpPr>
        <p:spPr>
          <a:xfrm>
            <a:off x="1636625" y="192250"/>
            <a:ext cx="6115800" cy="35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000"/>
              <a:t>Data Analysis Process</a:t>
            </a:r>
            <a:endParaRPr sz="3000"/>
          </a:p>
        </p:txBody>
      </p:sp>
      <p:sp>
        <p:nvSpPr>
          <p:cNvPr id="481" name="Google Shape;481;p44"/>
          <p:cNvSpPr txBox="1"/>
          <p:nvPr>
            <p:ph type="title"/>
          </p:nvPr>
        </p:nvSpPr>
        <p:spPr>
          <a:xfrm>
            <a:off x="135050" y="1940425"/>
            <a:ext cx="8574600" cy="11148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2. 	EDA</a:t>
            </a:r>
            <a:endParaRPr b="1" sz="1600">
              <a:solidFill>
                <a:schemeClr val="dk2"/>
              </a:solidFill>
              <a:latin typeface="Urbanist"/>
              <a:ea typeface="Urbanist"/>
              <a:cs typeface="Urbanist"/>
              <a:sym typeface="Urbanist"/>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317500" lvl="0" marL="457200" rtl="0" algn="l">
              <a:lnSpc>
                <a:spcPct val="85000"/>
              </a:lnSpc>
              <a:spcBef>
                <a:spcPts val="0"/>
              </a:spcBef>
              <a:spcAft>
                <a:spcPts val="0"/>
              </a:spcAft>
              <a:buClr>
                <a:schemeClr val="dk2"/>
              </a:buClr>
              <a:buSzPts val="1400"/>
              <a:buChar char="●"/>
            </a:pPr>
            <a:r>
              <a:rPr lang="en" sz="1400">
                <a:solidFill>
                  <a:schemeClr val="dk2"/>
                </a:solidFill>
              </a:rPr>
              <a:t>Descriptive statistics</a:t>
            </a:r>
            <a:endParaRPr sz="1400">
              <a:solidFill>
                <a:schemeClr val="dk2"/>
              </a:solidFill>
            </a:endParaRPr>
          </a:p>
          <a:p>
            <a:pPr indent="-317500" lvl="0" marL="457200" rtl="0" algn="l">
              <a:lnSpc>
                <a:spcPct val="85000"/>
              </a:lnSpc>
              <a:spcBef>
                <a:spcPts val="0"/>
              </a:spcBef>
              <a:spcAft>
                <a:spcPts val="0"/>
              </a:spcAft>
              <a:buClr>
                <a:schemeClr val="dk2"/>
              </a:buClr>
              <a:buSzPts val="1400"/>
              <a:buChar char="●"/>
            </a:pPr>
            <a:r>
              <a:rPr lang="en" sz="1400">
                <a:solidFill>
                  <a:schemeClr val="dk2"/>
                </a:solidFill>
              </a:rPr>
              <a:t>Correlation analysis</a:t>
            </a:r>
            <a:endParaRPr sz="1400">
              <a:solidFill>
                <a:schemeClr val="dk2"/>
              </a:solidFill>
            </a:endParaRPr>
          </a:p>
          <a:p>
            <a:pPr indent="-317500" lvl="0" marL="457200" rtl="0" algn="l">
              <a:lnSpc>
                <a:spcPct val="85000"/>
              </a:lnSpc>
              <a:spcBef>
                <a:spcPts val="0"/>
              </a:spcBef>
              <a:spcAft>
                <a:spcPts val="0"/>
              </a:spcAft>
              <a:buClr>
                <a:schemeClr val="dk2"/>
              </a:buClr>
              <a:buSzPts val="1400"/>
              <a:buChar char="●"/>
            </a:pPr>
            <a:r>
              <a:rPr lang="en" sz="1400">
                <a:solidFill>
                  <a:schemeClr val="dk2"/>
                </a:solidFill>
              </a:rPr>
              <a:t>Trend analysis over time</a:t>
            </a:r>
            <a:endParaRPr sz="1400">
              <a:solidFill>
                <a:schemeClr val="dk2"/>
              </a:solidFill>
            </a:endParaRPr>
          </a:p>
        </p:txBody>
      </p:sp>
      <p:sp>
        <p:nvSpPr>
          <p:cNvPr id="482" name="Google Shape;482;p44"/>
          <p:cNvSpPr txBox="1"/>
          <p:nvPr>
            <p:ph type="title"/>
          </p:nvPr>
        </p:nvSpPr>
        <p:spPr>
          <a:xfrm>
            <a:off x="98300" y="3194150"/>
            <a:ext cx="8574600" cy="14817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3.</a:t>
            </a:r>
            <a:r>
              <a:rPr b="1" lang="en" sz="1600">
                <a:solidFill>
                  <a:schemeClr val="dk2"/>
                </a:solidFill>
                <a:latin typeface="Urbanist"/>
                <a:ea typeface="Urbanist"/>
                <a:cs typeface="Urbanist"/>
                <a:sym typeface="Urbanist"/>
              </a:rPr>
              <a:t> 	</a:t>
            </a:r>
            <a:r>
              <a:rPr b="1" lang="en" sz="1600">
                <a:solidFill>
                  <a:schemeClr val="dk2"/>
                </a:solidFill>
                <a:latin typeface="Urbanist"/>
                <a:ea typeface="Urbanist"/>
                <a:cs typeface="Urbanist"/>
                <a:sym typeface="Urbanist"/>
              </a:rPr>
              <a:t>Analysis and give insights</a:t>
            </a:r>
            <a:endParaRPr b="1" sz="1600">
              <a:solidFill>
                <a:schemeClr val="dk2"/>
              </a:solidFill>
              <a:latin typeface="Urbanist"/>
              <a:ea typeface="Urbanist"/>
              <a:cs typeface="Urbanist"/>
              <a:sym typeface="Urbanist"/>
            </a:endParaRPr>
          </a:p>
          <a:p>
            <a:pPr indent="-330200" lvl="0" marL="457200" rtl="0" algn="l">
              <a:lnSpc>
                <a:spcPct val="85000"/>
              </a:lnSpc>
              <a:spcBef>
                <a:spcPts val="0"/>
              </a:spcBef>
              <a:spcAft>
                <a:spcPts val="0"/>
              </a:spcAft>
              <a:buClr>
                <a:schemeClr val="dk2"/>
              </a:buClr>
              <a:buSzPts val="1600"/>
              <a:buChar char="-"/>
            </a:pPr>
            <a:r>
              <a:rPr lang="en" sz="1600">
                <a:solidFill>
                  <a:schemeClr val="dk2"/>
                </a:solidFill>
              </a:rPr>
              <a:t>Key analytical questions:</a:t>
            </a:r>
            <a:endParaRPr sz="1600">
              <a:solidFill>
                <a:schemeClr val="dk2"/>
              </a:solidFill>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317500" lvl="0" marL="457200" rtl="0" algn="l">
              <a:lnSpc>
                <a:spcPct val="85000"/>
              </a:lnSpc>
              <a:spcBef>
                <a:spcPts val="0"/>
              </a:spcBef>
              <a:spcAft>
                <a:spcPts val="0"/>
              </a:spcAft>
              <a:buClr>
                <a:schemeClr val="dk2"/>
              </a:buClr>
              <a:buSzPts val="1400"/>
              <a:buAutoNum type="arabicPeriod"/>
            </a:pPr>
            <a:r>
              <a:rPr lang="en" sz="1400">
                <a:solidFill>
                  <a:schemeClr val="dk2"/>
                </a:solidFill>
              </a:rPr>
              <a:t>How does revenue vary across different countries?</a:t>
            </a:r>
            <a:endParaRPr sz="1400">
              <a:solidFill>
                <a:schemeClr val="dk2"/>
              </a:solidFill>
            </a:endParaRPr>
          </a:p>
          <a:p>
            <a:pPr indent="-317500" lvl="0" marL="457200" rtl="0" algn="l">
              <a:lnSpc>
                <a:spcPct val="85000"/>
              </a:lnSpc>
              <a:spcBef>
                <a:spcPts val="0"/>
              </a:spcBef>
              <a:spcAft>
                <a:spcPts val="0"/>
              </a:spcAft>
              <a:buClr>
                <a:schemeClr val="dk2"/>
              </a:buClr>
              <a:buSzPts val="1400"/>
              <a:buAutoNum type="arabicPeriod"/>
            </a:pPr>
            <a:r>
              <a:rPr lang="en" sz="1400">
                <a:solidFill>
                  <a:schemeClr val="dk2"/>
                </a:solidFill>
              </a:rPr>
              <a:t>How do discounts impact units sold and total revenue?</a:t>
            </a:r>
            <a:endParaRPr sz="1400">
              <a:solidFill>
                <a:schemeClr val="dk2"/>
              </a:solidFill>
            </a:endParaRPr>
          </a:p>
          <a:p>
            <a:pPr indent="-317500" lvl="0" marL="457200" rtl="0" algn="l">
              <a:lnSpc>
                <a:spcPct val="85000"/>
              </a:lnSpc>
              <a:spcBef>
                <a:spcPts val="0"/>
              </a:spcBef>
              <a:spcAft>
                <a:spcPts val="0"/>
              </a:spcAft>
              <a:buClr>
                <a:schemeClr val="dk2"/>
              </a:buClr>
              <a:buSzPts val="1400"/>
              <a:buAutoNum type="arabicPeriod"/>
            </a:pPr>
            <a:r>
              <a:rPr lang="en" sz="1400">
                <a:solidFill>
                  <a:schemeClr val="dk2"/>
                </a:solidFill>
              </a:rPr>
              <a:t>What is the optimal discount range that maximizes revenue?</a:t>
            </a:r>
            <a:endParaRPr sz="1400">
              <a:solidFill>
                <a:schemeClr val="dk2"/>
              </a:solidFill>
            </a:endParaRPr>
          </a:p>
          <a:p>
            <a:pPr indent="-317500" lvl="0" marL="457200" rtl="0" algn="l">
              <a:lnSpc>
                <a:spcPct val="85000"/>
              </a:lnSpc>
              <a:spcBef>
                <a:spcPts val="0"/>
              </a:spcBef>
              <a:spcAft>
                <a:spcPts val="0"/>
              </a:spcAft>
              <a:buClr>
                <a:schemeClr val="dk2"/>
              </a:buClr>
              <a:buSzPts val="1400"/>
              <a:buAutoNum type="arabicPeriod"/>
            </a:pPr>
            <a:r>
              <a:rPr lang="en" sz="1400">
                <a:solidFill>
                  <a:schemeClr val="dk2"/>
                </a:solidFill>
              </a:rPr>
              <a:t>Which customer income level contributes the most to total revenue?</a:t>
            </a:r>
            <a:endParaRPr sz="14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descr="A luminous galaxy in space. " id="487" name="Google Shape;487;p45"/>
          <p:cNvPicPr preferRelativeResize="0"/>
          <p:nvPr/>
        </p:nvPicPr>
        <p:blipFill rotWithShape="1">
          <a:blip r:embed="rId3">
            <a:alphaModFix amt="50000"/>
          </a:blip>
          <a:srcRect b="1961" l="0" r="0" t="6840"/>
          <a:stretch/>
        </p:blipFill>
        <p:spPr>
          <a:xfrm>
            <a:off x="0" y="-11000"/>
            <a:ext cx="9144003" cy="4686976"/>
          </a:xfrm>
          <a:prstGeom prst="rect">
            <a:avLst/>
          </a:prstGeom>
          <a:noFill/>
          <a:ln>
            <a:noFill/>
          </a:ln>
        </p:spPr>
      </p:pic>
      <p:sp>
        <p:nvSpPr>
          <p:cNvPr id="488" name="Google Shape;488;p45"/>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489" name="Google Shape;489;p45"/>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490" name="Google Shape;490;p45"/>
          <p:cNvSpPr txBox="1"/>
          <p:nvPr>
            <p:ph idx="1" type="subTitle"/>
          </p:nvPr>
        </p:nvSpPr>
        <p:spPr>
          <a:xfrm>
            <a:off x="1625525" y="50850"/>
            <a:ext cx="6115800" cy="35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000"/>
              <a:t>Key Findings</a:t>
            </a:r>
            <a:endParaRPr sz="3000"/>
          </a:p>
        </p:txBody>
      </p:sp>
      <p:sp>
        <p:nvSpPr>
          <p:cNvPr id="491" name="Google Shape;491;p45"/>
          <p:cNvSpPr txBox="1"/>
          <p:nvPr>
            <p:ph type="title"/>
          </p:nvPr>
        </p:nvSpPr>
        <p:spPr>
          <a:xfrm>
            <a:off x="98300" y="4171950"/>
            <a:ext cx="8574600" cy="5040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-&gt; Overall, the company’s revenue is relatively consistent, with no significant differences across countries, income levels, or between the two sales channels. </a:t>
            </a:r>
            <a:endParaRPr sz="1400">
              <a:solidFill>
                <a:schemeClr val="dk2"/>
              </a:solidFill>
            </a:endParaRPr>
          </a:p>
        </p:txBody>
      </p:sp>
      <p:pic>
        <p:nvPicPr>
          <p:cNvPr id="492" name="Google Shape;492;p45"/>
          <p:cNvPicPr preferRelativeResize="0"/>
          <p:nvPr/>
        </p:nvPicPr>
        <p:blipFill>
          <a:blip r:embed="rId4">
            <a:alphaModFix/>
          </a:blip>
          <a:stretch>
            <a:fillRect/>
          </a:stretch>
        </p:blipFill>
        <p:spPr>
          <a:xfrm>
            <a:off x="98300" y="1338438"/>
            <a:ext cx="5105024" cy="1318200"/>
          </a:xfrm>
          <a:prstGeom prst="rect">
            <a:avLst/>
          </a:prstGeom>
          <a:noFill/>
          <a:ln>
            <a:noFill/>
          </a:ln>
        </p:spPr>
      </p:pic>
      <p:pic>
        <p:nvPicPr>
          <p:cNvPr id="493" name="Google Shape;493;p45"/>
          <p:cNvPicPr preferRelativeResize="0"/>
          <p:nvPr/>
        </p:nvPicPr>
        <p:blipFill>
          <a:blip r:embed="rId5">
            <a:alphaModFix/>
          </a:blip>
          <a:stretch>
            <a:fillRect/>
          </a:stretch>
        </p:blipFill>
        <p:spPr>
          <a:xfrm>
            <a:off x="5280850" y="1275688"/>
            <a:ext cx="2635900" cy="1364700"/>
          </a:xfrm>
          <a:prstGeom prst="rect">
            <a:avLst/>
          </a:prstGeom>
          <a:noFill/>
          <a:ln>
            <a:noFill/>
          </a:ln>
        </p:spPr>
      </p:pic>
      <p:pic>
        <p:nvPicPr>
          <p:cNvPr id="494" name="Google Shape;494;p45"/>
          <p:cNvPicPr preferRelativeResize="0"/>
          <p:nvPr/>
        </p:nvPicPr>
        <p:blipFill>
          <a:blip r:embed="rId6">
            <a:alphaModFix/>
          </a:blip>
          <a:stretch>
            <a:fillRect/>
          </a:stretch>
        </p:blipFill>
        <p:spPr>
          <a:xfrm>
            <a:off x="52625" y="2747075"/>
            <a:ext cx="5902424" cy="1318200"/>
          </a:xfrm>
          <a:prstGeom prst="rect">
            <a:avLst/>
          </a:prstGeom>
          <a:noFill/>
          <a:ln>
            <a:noFill/>
          </a:ln>
        </p:spPr>
      </p:pic>
      <p:pic>
        <p:nvPicPr>
          <p:cNvPr id="495" name="Google Shape;495;p45"/>
          <p:cNvPicPr preferRelativeResize="0"/>
          <p:nvPr/>
        </p:nvPicPr>
        <p:blipFill>
          <a:blip r:embed="rId7">
            <a:alphaModFix/>
          </a:blip>
          <a:stretch>
            <a:fillRect/>
          </a:stretch>
        </p:blipFill>
        <p:spPr>
          <a:xfrm>
            <a:off x="0" y="587235"/>
            <a:ext cx="9144000" cy="660755"/>
          </a:xfrm>
          <a:prstGeom prst="rect">
            <a:avLst/>
          </a:prstGeom>
          <a:noFill/>
          <a:ln>
            <a:noFill/>
          </a:ln>
        </p:spPr>
      </p:pic>
      <p:pic>
        <p:nvPicPr>
          <p:cNvPr id="496" name="Google Shape;496;p45"/>
          <p:cNvPicPr preferRelativeResize="0"/>
          <p:nvPr/>
        </p:nvPicPr>
        <p:blipFill>
          <a:blip r:embed="rId8">
            <a:alphaModFix/>
          </a:blip>
          <a:stretch>
            <a:fillRect/>
          </a:stretch>
        </p:blipFill>
        <p:spPr>
          <a:xfrm>
            <a:off x="5955054" y="2747082"/>
            <a:ext cx="2631140" cy="1318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descr="A luminous galaxy in space. " id="501" name="Google Shape;501;p46"/>
          <p:cNvPicPr preferRelativeResize="0"/>
          <p:nvPr/>
        </p:nvPicPr>
        <p:blipFill rotWithShape="1">
          <a:blip r:embed="rId3">
            <a:alphaModFix amt="50000"/>
          </a:blip>
          <a:srcRect b="1961" l="0" r="0" t="6840"/>
          <a:stretch/>
        </p:blipFill>
        <p:spPr>
          <a:xfrm>
            <a:off x="122525" y="0"/>
            <a:ext cx="9144003" cy="4686976"/>
          </a:xfrm>
          <a:prstGeom prst="rect">
            <a:avLst/>
          </a:prstGeom>
          <a:noFill/>
          <a:ln>
            <a:noFill/>
          </a:ln>
        </p:spPr>
      </p:pic>
      <p:sp>
        <p:nvSpPr>
          <p:cNvPr id="502" name="Google Shape;502;p46"/>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503" name="Google Shape;503;p46"/>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504" name="Google Shape;504;p46"/>
          <p:cNvSpPr txBox="1"/>
          <p:nvPr>
            <p:ph idx="1" type="subTitle"/>
          </p:nvPr>
        </p:nvSpPr>
        <p:spPr>
          <a:xfrm>
            <a:off x="1636625" y="192250"/>
            <a:ext cx="6115800" cy="3555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3000"/>
              <a:t>Key Findings</a:t>
            </a:r>
            <a:endParaRPr sz="3000"/>
          </a:p>
        </p:txBody>
      </p:sp>
      <p:pic>
        <p:nvPicPr>
          <p:cNvPr id="505" name="Google Shape;505;p46"/>
          <p:cNvPicPr preferRelativeResize="0"/>
          <p:nvPr/>
        </p:nvPicPr>
        <p:blipFill>
          <a:blip r:embed="rId4">
            <a:alphaModFix/>
          </a:blip>
          <a:stretch>
            <a:fillRect/>
          </a:stretch>
        </p:blipFill>
        <p:spPr>
          <a:xfrm>
            <a:off x="175075" y="983650"/>
            <a:ext cx="3488001" cy="3037925"/>
          </a:xfrm>
          <a:prstGeom prst="rect">
            <a:avLst/>
          </a:prstGeom>
          <a:noFill/>
          <a:ln>
            <a:noFill/>
          </a:ln>
        </p:spPr>
      </p:pic>
      <p:sp>
        <p:nvSpPr>
          <p:cNvPr id="506" name="Google Shape;506;p46"/>
          <p:cNvSpPr txBox="1"/>
          <p:nvPr>
            <p:ph type="title"/>
          </p:nvPr>
        </p:nvSpPr>
        <p:spPr>
          <a:xfrm>
            <a:off x="3869400" y="873363"/>
            <a:ext cx="5046300" cy="3477000"/>
          </a:xfrm>
          <a:prstGeom prst="rect">
            <a:avLst/>
          </a:prstGeom>
        </p:spPr>
        <p:txBody>
          <a:bodyPr anchorCtr="0" anchor="t" bIns="0" lIns="0" spcFirstLastPara="1" rIns="0" wrap="square" tIns="0">
            <a:noAutofit/>
          </a:bodyPr>
          <a:lstStyle/>
          <a:p>
            <a:pPr indent="-330200" lvl="0" marL="457200" rtl="0" algn="l">
              <a:lnSpc>
                <a:spcPct val="85000"/>
              </a:lnSpc>
              <a:spcBef>
                <a:spcPts val="0"/>
              </a:spcBef>
              <a:spcAft>
                <a:spcPts val="0"/>
              </a:spcAft>
              <a:buClr>
                <a:schemeClr val="dk2"/>
              </a:buClr>
              <a:buSzPts val="1600"/>
              <a:buFont typeface="Urbanist"/>
              <a:buChar char="-"/>
            </a:pPr>
            <a:r>
              <a:rPr b="1" lang="en" sz="1600">
                <a:solidFill>
                  <a:schemeClr val="dk2"/>
                </a:solidFill>
                <a:latin typeface="Urbanist"/>
                <a:ea typeface="Urbanist"/>
                <a:cs typeface="Urbanist"/>
                <a:sym typeface="Urbanist"/>
              </a:rPr>
              <a:t>1 Revenue = 0.76 units sold -&gt; Company depends more quantity-driven than price-driven </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=&gt; Focus on increasing sales volume (marketing, advertising)</a:t>
            </a:r>
            <a:endParaRPr b="1" sz="1600">
              <a:solidFill>
                <a:schemeClr val="dk2"/>
              </a:solidFill>
              <a:latin typeface="Urbanist"/>
              <a:ea typeface="Urbanist"/>
              <a:cs typeface="Urbanist"/>
              <a:sym typeface="Urbanist"/>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330200" lvl="0" marL="457200" rtl="0" algn="l">
              <a:lnSpc>
                <a:spcPct val="85000"/>
              </a:lnSpc>
              <a:spcBef>
                <a:spcPts val="0"/>
              </a:spcBef>
              <a:spcAft>
                <a:spcPts val="0"/>
              </a:spcAft>
              <a:buClr>
                <a:schemeClr val="dk2"/>
              </a:buClr>
              <a:buSzPts val="1600"/>
              <a:buFont typeface="Urbanist"/>
              <a:buChar char="-"/>
            </a:pPr>
            <a:r>
              <a:rPr b="1" lang="en" sz="1600">
                <a:solidFill>
                  <a:schemeClr val="dk2"/>
                </a:solidFill>
                <a:latin typeface="Urbanist"/>
                <a:ea typeface="Urbanist"/>
                <a:cs typeface="Urbanist"/>
                <a:sym typeface="Urbanist"/>
              </a:rPr>
              <a:t>1 Revenue = 0.56 Price -&gt; Price is not the dominant factor to increase revenue</a:t>
            </a:r>
            <a:endParaRPr b="1" sz="1600">
              <a:solidFill>
                <a:schemeClr val="dk2"/>
              </a:solidFill>
              <a:latin typeface="Urbanist"/>
              <a:ea typeface="Urbanist"/>
              <a:cs typeface="Urbanist"/>
              <a:sym typeface="Urbanist"/>
            </a:endParaRPr>
          </a:p>
          <a:p>
            <a:pPr indent="-330200" lvl="0" marL="457200" rtl="0" algn="l">
              <a:lnSpc>
                <a:spcPct val="85000"/>
              </a:lnSpc>
              <a:spcBef>
                <a:spcPts val="0"/>
              </a:spcBef>
              <a:spcAft>
                <a:spcPts val="0"/>
              </a:spcAft>
              <a:buClr>
                <a:schemeClr val="dk2"/>
              </a:buClr>
              <a:buSzPts val="1600"/>
              <a:buFont typeface="Urbanist"/>
              <a:buChar char="-"/>
            </a:pPr>
            <a:r>
              <a:t/>
            </a:r>
            <a:endParaRPr b="1" sz="1600">
              <a:solidFill>
                <a:schemeClr val="dk2"/>
              </a:solidFill>
              <a:latin typeface="Urbanist"/>
              <a:ea typeface="Urbanist"/>
              <a:cs typeface="Urbanist"/>
              <a:sym typeface="Urbanist"/>
            </a:endParaRPr>
          </a:p>
          <a:p>
            <a:pPr indent="-330200" lvl="0" marL="457200" rtl="0" algn="l">
              <a:lnSpc>
                <a:spcPct val="85000"/>
              </a:lnSpc>
              <a:spcBef>
                <a:spcPts val="0"/>
              </a:spcBef>
              <a:spcAft>
                <a:spcPts val="0"/>
              </a:spcAft>
              <a:buClr>
                <a:srgbClr val="FFFF00"/>
              </a:buClr>
              <a:buSzPts val="1600"/>
              <a:buFont typeface="Urbanist"/>
              <a:buChar char="-"/>
            </a:pPr>
            <a:r>
              <a:rPr b="1" lang="en" sz="1600">
                <a:solidFill>
                  <a:srgbClr val="FFFF00"/>
                </a:solidFill>
                <a:latin typeface="Urbanist"/>
                <a:ea typeface="Urbanist"/>
                <a:cs typeface="Urbanist"/>
                <a:sym typeface="Urbanist"/>
              </a:rPr>
              <a:t>1 discount = - 0.19 Revenue -&gt; Discounts do not boost revenue </a:t>
            </a:r>
            <a:endParaRPr b="1" sz="1600">
              <a:solidFill>
                <a:srgbClr val="FFFF00"/>
              </a:solidFill>
              <a:latin typeface="Urbanist"/>
              <a:ea typeface="Urbanist"/>
              <a:cs typeface="Urbanist"/>
              <a:sym typeface="Urbanist"/>
            </a:endParaRPr>
          </a:p>
          <a:p>
            <a:pPr indent="0" lvl="0" marL="0" rtl="0" algn="l">
              <a:lnSpc>
                <a:spcPct val="85000"/>
              </a:lnSpc>
              <a:spcBef>
                <a:spcPts val="0"/>
              </a:spcBef>
              <a:spcAft>
                <a:spcPts val="0"/>
              </a:spcAft>
              <a:buNone/>
            </a:pPr>
            <a:r>
              <a:rPr b="1" lang="en" sz="1600">
                <a:solidFill>
                  <a:srgbClr val="FFFF00"/>
                </a:solidFill>
                <a:latin typeface="Urbanist"/>
                <a:ea typeface="Urbanist"/>
                <a:cs typeface="Urbanist"/>
                <a:sym typeface="Urbanist"/>
              </a:rPr>
              <a:t>=&gt; Not effective</a:t>
            </a:r>
            <a:endParaRPr b="1" sz="1600">
              <a:solidFill>
                <a:srgbClr val="FFFF00"/>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rgbClr val="FFFF00"/>
              </a:solidFill>
              <a:latin typeface="Urbanist"/>
              <a:ea typeface="Urbanist"/>
              <a:cs typeface="Urbanist"/>
              <a:sym typeface="Urbanist"/>
            </a:endParaRPr>
          </a:p>
          <a:p>
            <a:pPr indent="-330200" lvl="0" marL="457200" rtl="0" algn="l">
              <a:lnSpc>
                <a:spcPct val="85000"/>
              </a:lnSpc>
              <a:spcBef>
                <a:spcPts val="0"/>
              </a:spcBef>
              <a:spcAft>
                <a:spcPts val="0"/>
              </a:spcAft>
              <a:buClr>
                <a:srgbClr val="FFFF00"/>
              </a:buClr>
              <a:buSzPts val="1600"/>
              <a:buFont typeface="Urbanist"/>
              <a:buChar char="-"/>
            </a:pPr>
            <a:r>
              <a:rPr b="1" lang="en" sz="1600">
                <a:solidFill>
                  <a:srgbClr val="FFFF00"/>
                </a:solidFill>
                <a:latin typeface="Urbanist"/>
                <a:ea typeface="Urbanist"/>
                <a:cs typeface="Urbanist"/>
                <a:sym typeface="Urbanist"/>
              </a:rPr>
              <a:t>1 discount - 0.005 Units sold -&gt; Discounts have almost no effect on sales volume</a:t>
            </a:r>
            <a:endParaRPr b="1" sz="1600">
              <a:solidFill>
                <a:srgbClr val="FFFF00"/>
              </a:solidFill>
              <a:latin typeface="Urbanist"/>
              <a:ea typeface="Urbanist"/>
              <a:cs typeface="Urbanist"/>
              <a:sym typeface="Urbanist"/>
            </a:endParaRPr>
          </a:p>
          <a:p>
            <a:pPr indent="0" lvl="0" marL="0" rtl="0" algn="l">
              <a:lnSpc>
                <a:spcPct val="85000"/>
              </a:lnSpc>
              <a:spcBef>
                <a:spcPts val="0"/>
              </a:spcBef>
              <a:spcAft>
                <a:spcPts val="0"/>
              </a:spcAft>
              <a:buNone/>
            </a:pPr>
            <a:r>
              <a:rPr b="1" lang="en" sz="1600">
                <a:solidFill>
                  <a:srgbClr val="FFFF00"/>
                </a:solidFill>
                <a:latin typeface="Urbanist"/>
                <a:ea typeface="Urbanist"/>
                <a:cs typeface="Urbanist"/>
                <a:sym typeface="Urbanist"/>
              </a:rPr>
              <a:t>=&gt; Not effective</a:t>
            </a:r>
            <a:endParaRPr b="1" sz="1600">
              <a:solidFill>
                <a:srgbClr val="FFFF00"/>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A luminous galaxy in space. " id="511" name="Google Shape;511;p47"/>
          <p:cNvPicPr preferRelativeResize="0"/>
          <p:nvPr/>
        </p:nvPicPr>
        <p:blipFill rotWithShape="1">
          <a:blip r:embed="rId3">
            <a:alphaModFix amt="50000"/>
          </a:blip>
          <a:srcRect b="1961" l="0" r="0" t="6840"/>
          <a:stretch/>
        </p:blipFill>
        <p:spPr>
          <a:xfrm>
            <a:off x="122525" y="0"/>
            <a:ext cx="9144003" cy="4686976"/>
          </a:xfrm>
          <a:prstGeom prst="rect">
            <a:avLst/>
          </a:prstGeom>
          <a:noFill/>
          <a:ln>
            <a:noFill/>
          </a:ln>
        </p:spPr>
      </p:pic>
      <p:sp>
        <p:nvSpPr>
          <p:cNvPr id="512" name="Google Shape;512;p47"/>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513" name="Google Shape;513;p47"/>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514" name="Google Shape;514;p47"/>
          <p:cNvSpPr txBox="1"/>
          <p:nvPr>
            <p:ph idx="1" type="subTitle"/>
          </p:nvPr>
        </p:nvSpPr>
        <p:spPr>
          <a:xfrm>
            <a:off x="1636625" y="192250"/>
            <a:ext cx="6115800" cy="3555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3000"/>
              <a:t>Key Findings</a:t>
            </a:r>
            <a:endParaRPr sz="3000"/>
          </a:p>
        </p:txBody>
      </p:sp>
      <p:sp>
        <p:nvSpPr>
          <p:cNvPr id="515" name="Google Shape;515;p47"/>
          <p:cNvSpPr txBox="1"/>
          <p:nvPr>
            <p:ph type="title"/>
          </p:nvPr>
        </p:nvSpPr>
        <p:spPr>
          <a:xfrm>
            <a:off x="4097700" y="873350"/>
            <a:ext cx="5046300" cy="3477000"/>
          </a:xfrm>
          <a:prstGeom prst="rect">
            <a:avLst/>
          </a:prstGeom>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1100"/>
              <a:buFont typeface="Arial"/>
              <a:buNone/>
            </a:pPr>
            <a:r>
              <a:rPr b="1" lang="en" sz="1600">
                <a:solidFill>
                  <a:schemeClr val="dk2"/>
                </a:solidFill>
                <a:latin typeface="Urbanist"/>
                <a:ea typeface="Urbanist"/>
                <a:cs typeface="Urbanist"/>
                <a:sym typeface="Urbanist"/>
              </a:rPr>
              <a:t>When rating increase → revenue ↑ (2019, 2022, 2025)</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When rating decrease → revenue ↓ (2021, 2023, 2024, 2026)</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-&gt; Revenue growth closely follows customer satisfaction trends.</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rPr b="1" lang="en" sz="1600">
                <a:solidFill>
                  <a:schemeClr val="dk2"/>
                </a:solidFill>
                <a:latin typeface="Urbanist"/>
                <a:ea typeface="Urbanist"/>
                <a:cs typeface="Urbanist"/>
                <a:sym typeface="Urbanist"/>
              </a:rPr>
              <a:t>=&gt; Company should increase customer </a:t>
            </a:r>
            <a:r>
              <a:rPr b="1" lang="en" sz="1600">
                <a:solidFill>
                  <a:schemeClr val="dk2"/>
                </a:solidFill>
                <a:latin typeface="Urbanist"/>
                <a:ea typeface="Urbanist"/>
                <a:cs typeface="Urbanist"/>
                <a:sym typeface="Urbanist"/>
              </a:rPr>
              <a:t>satisfaction</a:t>
            </a:r>
            <a:r>
              <a:rPr b="1" lang="en" sz="1600">
                <a:solidFill>
                  <a:schemeClr val="dk2"/>
                </a:solidFill>
                <a:latin typeface="Urbanist"/>
                <a:ea typeface="Urbanist"/>
                <a:cs typeface="Urbanist"/>
                <a:sym typeface="Urbanist"/>
              </a:rPr>
              <a:t>s as it affect directly to company’s </a:t>
            </a:r>
            <a:r>
              <a:rPr b="1" lang="en" sz="1600">
                <a:solidFill>
                  <a:schemeClr val="dk2"/>
                </a:solidFill>
                <a:latin typeface="Urbanist"/>
                <a:ea typeface="Urbanist"/>
                <a:cs typeface="Urbanist"/>
                <a:sym typeface="Urbanist"/>
              </a:rPr>
              <a:t>revenue</a:t>
            </a:r>
            <a:r>
              <a:rPr b="1" lang="en" sz="1600">
                <a:solidFill>
                  <a:schemeClr val="dk2"/>
                </a:solidFill>
                <a:latin typeface="Urbanist"/>
                <a:ea typeface="Urbanist"/>
                <a:cs typeface="Urbanist"/>
                <a:sym typeface="Urbanist"/>
              </a:rPr>
              <a:t> and profitability.</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Clr>
                <a:schemeClr val="dk1"/>
              </a:buClr>
              <a:buSzPts val="1100"/>
              <a:buFont typeface="Arial"/>
              <a:buNone/>
            </a:pPr>
            <a:r>
              <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p:txBody>
      </p:sp>
      <p:pic>
        <p:nvPicPr>
          <p:cNvPr id="516" name="Google Shape;516;p47"/>
          <p:cNvPicPr preferRelativeResize="0"/>
          <p:nvPr/>
        </p:nvPicPr>
        <p:blipFill>
          <a:blip r:embed="rId4">
            <a:alphaModFix/>
          </a:blip>
          <a:stretch>
            <a:fillRect/>
          </a:stretch>
        </p:blipFill>
        <p:spPr>
          <a:xfrm>
            <a:off x="228600" y="695168"/>
            <a:ext cx="3674775" cy="39473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descr="A luminous galaxy in space. " id="521" name="Google Shape;521;p48"/>
          <p:cNvPicPr preferRelativeResize="0"/>
          <p:nvPr/>
        </p:nvPicPr>
        <p:blipFill rotWithShape="1">
          <a:blip r:embed="rId3">
            <a:alphaModFix amt="50000"/>
          </a:blip>
          <a:srcRect b="1961" l="0" r="0" t="6840"/>
          <a:stretch/>
        </p:blipFill>
        <p:spPr>
          <a:xfrm>
            <a:off x="122525" y="0"/>
            <a:ext cx="9144003" cy="4686976"/>
          </a:xfrm>
          <a:prstGeom prst="rect">
            <a:avLst/>
          </a:prstGeom>
          <a:noFill/>
          <a:ln>
            <a:noFill/>
          </a:ln>
        </p:spPr>
      </p:pic>
      <p:sp>
        <p:nvSpPr>
          <p:cNvPr id="522" name="Google Shape;522;p4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March</a:t>
            </a:r>
            <a:endParaRPr/>
          </a:p>
        </p:txBody>
      </p:sp>
      <p:sp>
        <p:nvSpPr>
          <p:cNvPr id="523" name="Google Shape;523;p4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2026</a:t>
            </a:r>
            <a:endParaRPr/>
          </a:p>
        </p:txBody>
      </p:sp>
      <p:sp>
        <p:nvSpPr>
          <p:cNvPr id="524" name="Google Shape;524;p48"/>
          <p:cNvSpPr txBox="1"/>
          <p:nvPr>
            <p:ph idx="1" type="subTitle"/>
          </p:nvPr>
        </p:nvSpPr>
        <p:spPr>
          <a:xfrm>
            <a:off x="1636625" y="192250"/>
            <a:ext cx="6115800" cy="3555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3000"/>
              <a:t>Business Recommendations</a:t>
            </a:r>
            <a:endParaRPr sz="3000"/>
          </a:p>
        </p:txBody>
      </p:sp>
      <p:sp>
        <p:nvSpPr>
          <p:cNvPr id="525" name="Google Shape;525;p48"/>
          <p:cNvSpPr txBox="1"/>
          <p:nvPr>
            <p:ph type="title"/>
          </p:nvPr>
        </p:nvSpPr>
        <p:spPr>
          <a:xfrm>
            <a:off x="442800" y="862250"/>
            <a:ext cx="8169900" cy="2475600"/>
          </a:xfrm>
          <a:prstGeom prst="rect">
            <a:avLst/>
          </a:prstGeom>
        </p:spPr>
        <p:txBody>
          <a:bodyPr anchorCtr="0" anchor="t" bIns="0" lIns="0" spcFirstLastPara="1" rIns="0" wrap="square" tIns="0">
            <a:noAutofit/>
          </a:bodyPr>
          <a:lstStyle/>
          <a:p>
            <a:pPr indent="-330200" lvl="0" marL="457200" rtl="0" algn="l">
              <a:lnSpc>
                <a:spcPct val="85000"/>
              </a:lnSpc>
              <a:spcBef>
                <a:spcPts val="0"/>
              </a:spcBef>
              <a:spcAft>
                <a:spcPts val="0"/>
              </a:spcAft>
              <a:buClr>
                <a:schemeClr val="dk2"/>
              </a:buClr>
              <a:buSzPts val="1600"/>
              <a:buFont typeface="Urbanist"/>
              <a:buAutoNum type="arabicPeriod"/>
            </a:pPr>
            <a:r>
              <a:rPr b="1" lang="en" sz="1600">
                <a:solidFill>
                  <a:schemeClr val="dk2"/>
                </a:solidFill>
                <a:latin typeface="Urbanist"/>
                <a:ea typeface="Urbanist"/>
                <a:cs typeface="Urbanist"/>
                <a:sym typeface="Urbanist"/>
              </a:rPr>
              <a:t>Focus on Pricing &amp; Promotions to improve sales.</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45720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330200" lvl="0" marL="457200" rtl="0" algn="l">
              <a:lnSpc>
                <a:spcPct val="85000"/>
              </a:lnSpc>
              <a:spcBef>
                <a:spcPts val="0"/>
              </a:spcBef>
              <a:spcAft>
                <a:spcPts val="0"/>
              </a:spcAft>
              <a:buClr>
                <a:schemeClr val="dk2"/>
              </a:buClr>
              <a:buSzPts val="1600"/>
              <a:buFont typeface="Urbanist"/>
              <a:buAutoNum type="arabicPeriod"/>
            </a:pPr>
            <a:r>
              <a:rPr b="1" lang="en" sz="1600">
                <a:solidFill>
                  <a:schemeClr val="dk2"/>
                </a:solidFill>
                <a:latin typeface="Urbanist"/>
                <a:ea typeface="Urbanist"/>
                <a:cs typeface="Urbanist"/>
                <a:sym typeface="Urbanist"/>
              </a:rPr>
              <a:t>Focus on increasing customer satisfaction  to gain revenue.</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0" lvl="0" marL="0" rtl="0" algn="l">
              <a:lnSpc>
                <a:spcPct val="85000"/>
              </a:lnSpc>
              <a:spcBef>
                <a:spcPts val="0"/>
              </a:spcBef>
              <a:spcAft>
                <a:spcPts val="0"/>
              </a:spcAft>
              <a:buNone/>
            </a:pPr>
            <a:r>
              <a:t/>
            </a:r>
            <a:endParaRPr b="1" sz="1600">
              <a:solidFill>
                <a:schemeClr val="dk2"/>
              </a:solidFill>
              <a:latin typeface="Urbanist"/>
              <a:ea typeface="Urbanist"/>
              <a:cs typeface="Urbanist"/>
              <a:sym typeface="Urbanist"/>
            </a:endParaRPr>
          </a:p>
          <a:p>
            <a:pPr indent="-330200" lvl="0" marL="457200" rtl="0" algn="l">
              <a:lnSpc>
                <a:spcPct val="85000"/>
              </a:lnSpc>
              <a:spcBef>
                <a:spcPts val="0"/>
              </a:spcBef>
              <a:spcAft>
                <a:spcPts val="0"/>
              </a:spcAft>
              <a:buClr>
                <a:schemeClr val="dk2"/>
              </a:buClr>
              <a:buSzPts val="1600"/>
              <a:buFont typeface="Urbanist"/>
              <a:buAutoNum type="arabicPeriod"/>
            </a:pPr>
            <a:r>
              <a:rPr b="1" lang="en" sz="1600">
                <a:solidFill>
                  <a:schemeClr val="dk2"/>
                </a:solidFill>
                <a:latin typeface="Urbanist"/>
                <a:ea typeface="Urbanist"/>
                <a:cs typeface="Urbanist"/>
                <a:sym typeface="Urbanist"/>
              </a:rPr>
              <a:t>Using promotions for targeted products instead of discounts for everything</a:t>
            </a:r>
            <a:endParaRPr b="1" sz="1600">
              <a:solidFill>
                <a:schemeClr val="dk2"/>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